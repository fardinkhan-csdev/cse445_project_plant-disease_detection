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Comparative Study of PEFT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9A7"/>
                </a:solidFill>
                <a:latin typeface="Calibri"/>
              </a:defRPr>
            </a:pPr>
            <a:r>
              <a:t>for Plant Leaf Disease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Calibri"/>
              </a:defRPr>
            </a:pPr>
            <a:r>
              <a:rPr dirty="0" err="1"/>
              <a:t>LoRA</a:t>
            </a:r>
            <a:r>
              <a:rPr dirty="0"/>
              <a:t>  ·  </a:t>
            </a:r>
            <a:r>
              <a:rPr dirty="0" err="1"/>
              <a:t>QLoRA</a:t>
            </a:r>
            <a:r>
              <a:rPr dirty="0"/>
              <a:t>  ·  QA-</a:t>
            </a:r>
            <a:r>
              <a:rPr dirty="0" err="1"/>
              <a:t>LoRA</a:t>
            </a:r>
            <a:r>
              <a:rPr dirty="0"/>
              <a:t> </a:t>
            </a:r>
            <a:r>
              <a:rPr lang="en-US" dirty="0"/>
              <a:t>  </a:t>
            </a:r>
            <a:r>
              <a:rPr dirty="0"/>
              <a:t>on  EfficientNet-B0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4663440"/>
            <a:ext cx="393192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EfficientNet-B0 Backbone  |  PlantVillage Dataset  |  PlantDoc Transfer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Project Topic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27432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19456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A7"/>
                </a:solidFill>
                <a:latin typeface="Calibri"/>
              </a:defRPr>
            </a:pPr>
            <a:r>
              <a:t>🌿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Plant diseases cause up to 40% of global crop losses annually. Early, accurate detection is critical for food security. Manual expert diagnosis is slow, expensive, and unavailable in rural areas.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Calibri"/>
              </a:defRPr>
            </a:pPr>
            <a:r>
              <a:t>🔬  Our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BBBCC"/>
                </a:solidFill>
                <a:latin typeface="Calibri"/>
              </a:defRPr>
            </a:pPr>
            <a:r>
              <a:rPr dirty="0"/>
              <a:t>Compare four Parameter-Efficient Fine-Tuning (PEFT) methods on EfficientNet-B0 for 38-class plant disease classification. Train on </a:t>
            </a:r>
            <a:r>
              <a:rPr dirty="0" err="1"/>
              <a:t>PlantVillage</a:t>
            </a:r>
            <a:r>
              <a:rPr dirty="0"/>
              <a:t> (lab), evaluate on</a:t>
            </a:r>
            <a:r>
              <a:rPr lang="en-US" dirty="0"/>
              <a:t> </a:t>
            </a:r>
            <a:r>
              <a:rPr lang="en-US" dirty="0" err="1"/>
              <a:t>PlantVillage</a:t>
            </a:r>
            <a:r>
              <a:rPr lang="en-US" dirty="0"/>
              <a:t> and</a:t>
            </a:r>
            <a:r>
              <a:rPr dirty="0"/>
              <a:t> </a:t>
            </a:r>
            <a:r>
              <a:rPr dirty="0" err="1"/>
              <a:t>PlantDoc</a:t>
            </a:r>
            <a:r>
              <a:rPr dirty="0"/>
              <a:t> (real-world).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💡  Key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241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/>
              <a:t>Full fine-tuning of EfficientNet-B0 updates ~5.3M parameters. PEFT methods update only 3–8% of parameters while achieving comparable or superior accuracy. This project is the first known comparative study of CNN-specific PEFT methods (</a:t>
            </a:r>
            <a:r>
              <a:rPr dirty="0" err="1"/>
              <a:t>LoRA</a:t>
            </a:r>
            <a:r>
              <a:rPr dirty="0"/>
              <a:t>, </a:t>
            </a:r>
            <a:r>
              <a:rPr dirty="0" err="1"/>
              <a:t>QLoRA</a:t>
            </a:r>
            <a:r>
              <a:rPr dirty="0"/>
              <a:t>, QA-</a:t>
            </a:r>
            <a:r>
              <a:rPr dirty="0" err="1"/>
              <a:t>LoRA</a:t>
            </a:r>
            <a:r>
              <a:rPr dirty="0"/>
              <a:t>) for plant disease classification, including the novel application of QA-</a:t>
            </a:r>
            <a:r>
              <a:rPr dirty="0" err="1"/>
              <a:t>LoRA's</a:t>
            </a:r>
            <a:r>
              <a:rPr dirty="0"/>
              <a:t> group-wise quantization to convolutional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27432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502920" cy="5029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F3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Compare PEFT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37360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BBBCC"/>
                </a:solidFill>
                <a:latin typeface="Calibri"/>
              </a:defRPr>
            </a:pPr>
            <a:r>
              <a:rPr dirty="0"/>
              <a:t>Benchmark </a:t>
            </a:r>
            <a:r>
              <a:rPr dirty="0" err="1"/>
              <a:t>LoRA</a:t>
            </a:r>
            <a:r>
              <a:rPr dirty="0"/>
              <a:t>, </a:t>
            </a:r>
            <a:r>
              <a:rPr dirty="0" err="1"/>
              <a:t>QLoRA</a:t>
            </a:r>
            <a:r>
              <a:rPr dirty="0"/>
              <a:t>, and </a:t>
            </a:r>
            <a:r>
              <a:rPr lang="en-US" dirty="0"/>
              <a:t>QA-</a:t>
            </a:r>
            <a:r>
              <a:rPr lang="en-US" dirty="0" err="1"/>
              <a:t>LoRA</a:t>
            </a:r>
            <a:r>
              <a:rPr lang="en-US" dirty="0"/>
              <a:t> </a:t>
            </a:r>
            <a:r>
              <a:rPr dirty="0"/>
              <a:t>on the same EfficientNet-B0 backbone using the same dataset, splits, and evaluation protocol.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F3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Evaluate Quantization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17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Determine whether quantization (INT8, NF4, group-wise) improves or degrades accuracy compared to full-precision LoRA, and quantify the trade-off.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F3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Measure Real-World 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2976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Assess how models trained on controlled lab images (PlantVillage) perform on real-world field images (PlantDoc) with 25 shared label mappings.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257799"/>
            <a:ext cx="502920" cy="5029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F3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2120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Build a Deployable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5778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Create a production-ready pipeline with web UI, interactive inference, checkpoint ranking, and a self-contained HTML dashboard for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Related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27432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alibri"/>
              </a:defRPr>
            </a:pPr>
            <a:r>
              <a:t>Hu et al. 2021 — 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Introduced low-rank adaptation for Transformers. Freezes pretrained weights, inserts trainable low-rank matrices. Our work extends this to CNN pointwise convolutions.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Calibri"/>
              </a:defRPr>
            </a:pPr>
            <a:r>
              <a:t>Dettmers et al. 2023 — QLoRA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4-bit NF4 quantization + LoRA for LLMs. We adapt this to CNN Conv2d layers via bitsandbytes reshaping.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Xu et al. 2024 — QA-LoRA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Group-wise quantization balanced with grouped LoRA A. We implement Algorithm 1 faithfully for 1×1 convolutions.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Mohanty et al. 2016 — PlantVillage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54K leaf images across 38 classes. Standard benchmark for plant disease classification.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BBCC"/>
                </a:solidFill>
                <a:latin typeface="Calibri"/>
              </a:defRPr>
            </a:pPr>
            <a:r>
              <a:t>Singh et al. 2019 — PlantDoc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607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Real-world field images for plant disease detection. We use it as the transfer evaluation benchmark.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Calibri"/>
              </a:defRPr>
            </a:pPr>
            <a:r>
              <a:t>Our contribution: First CNN-PEFT comparison including QA-LoRA, with PlantDoc transfer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Methods — Data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36576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37744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📊  Dataset: PlantVillage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54,306 RGB color images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38 classes (14 crop species)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Source: HuggingFace official color split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Class format: Crop___Disease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e.g. Tomato___Late_blight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📂  Split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Train: 68% (leaf-id grouped)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Validation: 12% (leaf-id grouped)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Test: 20% (official HF test)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Leaf-id grouping prevents leakage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  from multiple photos of same leaf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029200" cy="237744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🔄  Training Transforms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1. Resize to 256×256</a:t>
            </a:r>
            <a:br/>
            <a:r>
              <a:t>2. Random crop to 224×224</a:t>
            </a:r>
            <a:br/>
            <a:r>
              <a:t>3. Random horizontal flip</a:t>
            </a:r>
            <a:br/>
            <a:r>
              <a:t>4. Random rotation (±15°)</a:t>
            </a:r>
            <a:br/>
            <a:r>
              <a:t>5. Color jitter</a:t>
            </a:r>
            <a:br/>
            <a:r>
              <a:t>6. ImageNet normalization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12080" cy="237744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🌍  Transfer: PlantDoc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Real-world field images</a:t>
            </a:r>
            <a:br/>
            <a:r>
              <a:t>• 25 shared label mappings</a:t>
            </a:r>
            <a:br/>
            <a:r>
              <a:t>  (PlantVillage → PlantDoc)</a:t>
            </a:r>
            <a:br/>
            <a:r>
              <a:t>• Test + train split evaluation</a:t>
            </a:r>
            <a:br/>
            <a:r>
              <a:t>• Multiple strategies tested:</a:t>
            </a:r>
            <a:br/>
            <a:r>
              <a:t>  segmentation, ensemble, style norm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Methods — Models &amp;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36576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651760" cy="301752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A7"/>
                </a:solidFill>
                <a:latin typeface="Calibri"/>
              </a:defRPr>
            </a:pPr>
            <a:r>
              <a:t>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Hu et al.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FP32 backbone</a:t>
            </a:r>
            <a:br/>
            <a:r>
              <a:t>All 1×1 convs + classifier</a:t>
            </a:r>
            <a:br/>
            <a:r>
              <a:t>rank=8, α=16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57600"/>
            <a:ext cx="237744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Params: ~193k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Size: ~18 MB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371600"/>
            <a:ext cx="2651760" cy="301752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  <a:latin typeface="Calibri"/>
              </a:defRPr>
            </a:pPr>
            <a:r>
              <a:t>QLoRA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Dettmers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NF4 quant (Q-path)</a:t>
            </a:r>
            <a:br/>
            <a:r>
              <a:t>bitsandbytes 4-bit</a:t>
            </a:r>
            <a:br/>
            <a:r>
              <a:t>rank=8, α=16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657600"/>
            <a:ext cx="2377440" cy="36576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0332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Params: ~193k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Size: ~7.6 MB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0"/>
            <a:ext cx="2651760" cy="301752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6B"/>
                </a:solidFill>
                <a:latin typeface="Calibri"/>
              </a:defRPr>
            </a:pPr>
            <a:r>
              <a:t>QA-LoRA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Xu et al.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Group-wise INT8</a:t>
            </a:r>
            <a:br/>
            <a:r>
              <a:t>Grouped LoRA A (L=4)</a:t>
            </a:r>
            <a:br/>
            <a:r>
              <a:t>rank=8, α=16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3657600"/>
            <a:ext cx="2377440" cy="36576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Params: ~242k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Size: ~9.5 MB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1371600"/>
            <a:ext cx="2651760" cy="301752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7260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Calibri"/>
              </a:defRPr>
            </a:pPr>
            <a:r>
              <a:t>Q/K LoRA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INT8 Q-path (r=16)</a:t>
            </a:r>
            <a:br/>
            <a:r>
              <a:t>FP32 K-path SE (r=4)</a:t>
            </a:r>
            <a:br/>
            <a:r>
              <a:t>Dual precision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3657600"/>
            <a:ext cx="2377440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7260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Params: ~445k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Size: ~12.1 MB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29200"/>
            <a:ext cx="1737360" cy="10972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5120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download_assets.py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303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A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68880" y="5029200"/>
            <a:ext cx="1737360" cy="10972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14600" y="5120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get_data_loaders()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303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63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5029200"/>
            <a:ext cx="1737360" cy="10972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34840" y="5120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Model Builder</a:t>
            </a:r>
            <a:br/>
            <a:r>
              <a:t>(LoRA/QLoRA/QA-LoRA)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303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6B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5029200"/>
            <a:ext cx="1737360" cy="10972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5120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Trainer</a:t>
            </a:r>
            <a:br/>
            <a:r>
              <a:t>(20 epochs, AdamW)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5303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7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5029200"/>
            <a:ext cx="1737360" cy="10972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20" y="5120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Evaluator</a:t>
            </a:r>
            <a:br/>
            <a:r>
              <a:t>(38-class + binary)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5303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A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49840" y="5029200"/>
            <a:ext cx="1737360" cy="10972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95560" y="5120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rank_experiments.py</a:t>
            </a:r>
            <a:br/>
            <a:r>
              <a:t>(cross-method)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Results — PlantVillage Test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36576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10,735 test images  |  38 classes  |  Best checkpoint per method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5212080" cy="731520"/>
          </a:xfrm>
          <a:prstGeom prst="roundRect">
            <a:avLst/>
          </a:prstGeom>
          <a:solidFill>
            <a:srgbClr val="27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🏆  QA-LoRA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99.52% accuracy with only 242k params (4.6% of backbone)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029200"/>
            <a:ext cx="5212080" cy="731520"/>
          </a:xfrm>
          <a:prstGeom prst="roundRect">
            <a:avLst/>
          </a:prstGeom>
          <a:solidFill>
            <a:srgbClr val="27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5074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📉  Quantization helps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Quantized methods outperform unquantized LoRA — regularization effect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52160"/>
            <a:ext cx="5212080" cy="731520"/>
          </a:xfrm>
          <a:prstGeom prst="roundRect">
            <a:avLst/>
          </a:prstGeom>
          <a:solidFill>
            <a:srgbClr val="27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💾  Smallest checkpoint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172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QLoRA at 7.6 MB — best for resource-constrained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852160"/>
            <a:ext cx="5212080" cy="731520"/>
          </a:xfrm>
          <a:prstGeom prst="roundRect">
            <a:avLst/>
          </a:prstGeom>
          <a:solidFill>
            <a:srgbClr val="27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5897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🔄  Group-wise &gt; per-channel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6172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QA-LoRA's group-wise INT8 beats Q/K LoRA's per-channel INT8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669769"/>
              </p:ext>
            </p:extLst>
          </p:nvPr>
        </p:nvGraphicFramePr>
        <p:xfrm>
          <a:off x="457200" y="164592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Macro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rPr dirty="0"/>
                        <a:t>1</a:t>
                      </a:r>
                      <a:r>
                        <a:rPr lang="en-US" dirty="0"/>
                        <a:t> 🥇</a:t>
                      </a:r>
                      <a:endParaRPr dirty="0"/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QA-LoRA V3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99.52%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0.9938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0.9929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0.9933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242k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9.5 MB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2</a:t>
                      </a:r>
                      <a:r>
                        <a:rPr lang="en-US" dirty="0"/>
                        <a:t> 🥈</a:t>
                      </a:r>
                      <a:endParaRPr dirty="0"/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Q/K </a:t>
                      </a:r>
                      <a:r>
                        <a:rPr dirty="0" err="1"/>
                        <a:t>LoRA</a:t>
                      </a:r>
                      <a:r>
                        <a:rPr lang="en-US" dirty="0"/>
                        <a:t> V1</a:t>
                      </a:r>
                      <a:endParaRPr dirty="0"/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99.22%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0.9895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0.9853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0.9872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445k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12.1 MB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3</a:t>
                      </a:r>
                      <a:r>
                        <a:rPr lang="en-US" dirty="0"/>
                        <a:t> 🥉</a:t>
                      </a:r>
                      <a:endParaRPr dirty="0"/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QLoRA V3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98.91%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0.9835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0.9846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0.9839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193k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7.6 MB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LoRA V3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98.89%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0.9854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0.9821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0.9836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193k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18.1 MB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Full Fine-Tune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~99.8%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~0.99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~0.98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~0.99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5.3M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rPr dirty="0"/>
                        <a:t>~120 MB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Transfer Evaluation &amp; Conclusions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45720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74320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🌍  PlantDoc Transfer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Real-world field images (not lab photos)</a:t>
            </a:r>
            <a:br/>
            <a:r>
              <a:t>• 25 shared label mappings used</a:t>
            </a:r>
            <a:br/>
            <a:r>
              <a:t>• Expected accuracy drop due to domain gap</a:t>
            </a:r>
            <a:br/>
            <a:r>
              <a:t>  (lab backgrounds → field conditions)</a:t>
            </a:r>
            <a:br/>
            <a:r>
              <a:t>• Multiple strategies evaluated:</a:t>
            </a:r>
            <a:br/>
            <a:r>
              <a:t>  - Segmented image evaluation</a:t>
            </a:r>
            <a:br/>
            <a:r>
              <a:t>  - Ensemble methods</a:t>
            </a:r>
            <a:br/>
            <a:r>
              <a:t>  - Style normalization (CORAL)</a:t>
            </a:r>
            <a:br/>
            <a:r>
              <a:t>  - Test-time augmentation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74320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⚡  Parameter 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BBCC"/>
                </a:solidFill>
                <a:latin typeface="Calibri"/>
              </a:defRPr>
            </a:pPr>
            <a:r>
              <a:t>Full Fine-Tune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5.3M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2057400"/>
            <a:ext cx="1645920" cy="228600"/>
          </a:xfrm>
          <a:prstGeom prst="round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20116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LoRA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193k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2468880"/>
            <a:ext cx="59253" cy="22860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23293" y="2423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3.6%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Calibri"/>
              </a:defRPr>
            </a:pPr>
            <a:r>
              <a:t>QLoRA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193k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2880360"/>
            <a:ext cx="59253" cy="2286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23293" y="2834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3.6%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Calibri"/>
              </a:defRPr>
            </a:pPr>
            <a:r>
              <a:t>QA-LoRA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46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242k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3291840"/>
            <a:ext cx="75712" cy="2286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39752" y="3246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4.6%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Q/K LoRA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445k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3703320"/>
            <a:ext cx="138257" cy="2286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2297" y="3657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8.4%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89120"/>
            <a:ext cx="10698480" cy="210312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44805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A7"/>
                </a:solidFill>
                <a:latin typeface="Calibri"/>
              </a:defRPr>
            </a:pPr>
            <a:r>
              <a:t>✅  Conclusions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89204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 QA-LoRA achieves the best accuracy (99.52%) with moderate parameters — group-wise quantization is superior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 All PEFT methods achieve &gt;98.8% accuracy with only 3.6–8.4% of backbone parameters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 Quantization acts as implicit regularization — quantized methods slightly outperform full-precision LoRA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4.  Real-world transfer (PlantDoc) shows expected domain gap — mitigated by segmentation, ensemble, and style normalization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5.  The full pipeline (training → evaluation → dashboard → web UI) is production-ready and reproducible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1105</Words>
  <Application>Microsoft Office PowerPoint</Application>
  <PresentationFormat>Widescreen</PresentationFormat>
  <Paragraphs>171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legendedit000666@gmail.com</cp:lastModifiedBy>
  <cp:revision>7</cp:revision>
  <dcterms:created xsi:type="dcterms:W3CDTF">2013-01-27T09:14:16Z</dcterms:created>
  <dcterms:modified xsi:type="dcterms:W3CDTF">2026-08-24T18:47:37Z</dcterms:modified>
  <cp:category/>
</cp:coreProperties>
</file>